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5" r:id="rId6"/>
    <p:sldId id="260" r:id="rId7"/>
    <p:sldId id="261" r:id="rId8"/>
    <p:sldId id="262" r:id="rId9"/>
    <p:sldId id="263" r:id="rId10"/>
    <p:sldId id="264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2" d="100"/>
          <a:sy n="82" d="100"/>
        </p:scale>
        <p:origin x="691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uresh-kumar-barawar/flutter-task-manager-back4app.git" TargetMode="Externa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F2925"/>
                </a:solidFill>
              </a:defRPr>
            </a:pPr>
            <a:r>
              <a:t>Task Manager App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051560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52615B"/>
                </a:solidFill>
              </a:defRPr>
            </a:pPr>
            <a:r>
              <a:t>Flutter CRUD Application Using Back4App BaaS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576873"/>
            <a:ext cx="10698480" cy="3291840"/>
          </a:xfrm>
          <a:prstGeom prst="rect">
            <a:avLst/>
          </a:prstGeom>
          <a:solidFill>
            <a:srgbClr val="FFFFFF"/>
          </a:solidFill>
          <a:ln>
            <a:solidFill>
              <a:srgbClr val="E0E4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20040" tIns="256032" rtlCol="0" anchor="ctr"/>
          <a:lstStyle/>
          <a:p>
            <a:pPr algn="ctr">
              <a:defRPr sz="2800" b="1">
                <a:solidFill>
                  <a:srgbClr val="1F2925"/>
                </a:solidFill>
              </a:defRPr>
            </a:pPr>
            <a:r>
              <a:rPr dirty="0"/>
              <a:t>Student task management with authentication, cloud storage, dynamic syncing, and secure logout.</a:t>
            </a:r>
          </a:p>
          <a:p>
            <a:pPr>
              <a:defRPr sz="1800">
                <a:solidFill>
                  <a:srgbClr val="52615B"/>
                </a:solidFill>
              </a:defRPr>
            </a:pPr>
            <a:r>
              <a:rPr dirty="0"/>
              <a:t>Frontend: Flutter | Backend: </a:t>
            </a:r>
            <a:r>
              <a:rPr dirty="0" err="1"/>
              <a:t>Back4App</a:t>
            </a:r>
            <a:r>
              <a:rPr dirty="0"/>
              <a:t> Parse Server | Database: </a:t>
            </a:r>
            <a:r>
              <a:rPr dirty="0" err="1"/>
              <a:t>Back4App</a:t>
            </a:r>
            <a:r>
              <a:rPr dirty="0"/>
              <a:t> Cloud Database</a:t>
            </a:r>
            <a:endParaRPr lang="en-US" dirty="0"/>
          </a:p>
          <a:p>
            <a:pPr>
              <a:defRPr sz="1800">
                <a:solidFill>
                  <a:srgbClr val="52615B"/>
                </a:solidFill>
              </a:defRPr>
            </a:pPr>
            <a:endParaRPr lang="en-US" dirty="0"/>
          </a:p>
          <a:p>
            <a:pPr>
              <a:defRPr sz="1800">
                <a:solidFill>
                  <a:srgbClr val="52615B"/>
                </a:solidFill>
              </a:defRPr>
            </a:pPr>
            <a:r>
              <a:rPr lang="en-US" b="1" dirty="0" err="1"/>
              <a:t>Github</a:t>
            </a:r>
            <a:r>
              <a:rPr lang="en-US" b="1" dirty="0"/>
              <a:t> </a:t>
            </a:r>
            <a:r>
              <a:rPr lang="en-US" b="1" dirty="0" err="1"/>
              <a:t>Url</a:t>
            </a:r>
            <a:r>
              <a:rPr lang="en-US" b="1" dirty="0"/>
              <a:t>: </a:t>
            </a:r>
            <a:r>
              <a:rPr lang="en-US" dirty="0">
                <a:hlinkClick r:id="rId2"/>
              </a:rPr>
              <a:t>https://</a:t>
            </a:r>
            <a:r>
              <a:rPr lang="en-US" dirty="0" err="1">
                <a:hlinkClick r:id="rId2"/>
              </a:rPr>
              <a:t>github.com</a:t>
            </a:r>
            <a:r>
              <a:rPr lang="en-US" dirty="0">
                <a:hlinkClick r:id="rId2"/>
              </a:rPr>
              <a:t>/Suresh-</a:t>
            </a:r>
            <a:r>
              <a:rPr lang="en-US" dirty="0" err="1">
                <a:hlinkClick r:id="rId2"/>
              </a:rPr>
              <a:t>kumar</a:t>
            </a:r>
            <a:r>
              <a:rPr lang="en-US" dirty="0">
                <a:hlinkClick r:id="rId2"/>
              </a:rPr>
              <a:t>-</a:t>
            </a:r>
            <a:r>
              <a:rPr lang="en-US" dirty="0" err="1">
                <a:hlinkClick r:id="rId2"/>
              </a:rPr>
              <a:t>barawar</a:t>
            </a:r>
            <a:r>
              <a:rPr lang="en-US" dirty="0">
                <a:hlinkClick r:id="rId2"/>
              </a:rPr>
              <a:t>/flutter-task-manager-</a:t>
            </a:r>
            <a:r>
              <a:rPr lang="en-US" dirty="0" err="1">
                <a:hlinkClick r:id="rId2"/>
              </a:rPr>
              <a:t>back4app.git</a:t>
            </a:r>
            <a:endParaRPr lang="en-US" dirty="0"/>
          </a:p>
          <a:p>
            <a:pPr>
              <a:defRPr sz="1800">
                <a:solidFill>
                  <a:srgbClr val="52615B"/>
                </a:solidFill>
              </a:defRPr>
            </a:pPr>
            <a:endParaRPr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A23A58-D3A0-F7C2-C62C-F2ACACDA30AC}"/>
              </a:ext>
            </a:extLst>
          </p:cNvPr>
          <p:cNvSpPr/>
          <p:nvPr/>
        </p:nvSpPr>
        <p:spPr>
          <a:xfrm>
            <a:off x="731520" y="5206481"/>
            <a:ext cx="4876178" cy="1240037"/>
          </a:xfrm>
          <a:prstGeom prst="rect">
            <a:avLst/>
          </a:prstGeom>
          <a:solidFill>
            <a:srgbClr val="FFFFFF"/>
          </a:solidFill>
          <a:ln>
            <a:solidFill>
              <a:srgbClr val="E0E4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20040" tIns="256032" rtlCol="0" anchor="ctr"/>
          <a:lstStyle/>
          <a:p>
            <a:pPr>
              <a:defRPr sz="2800" b="1">
                <a:solidFill>
                  <a:srgbClr val="1F2925"/>
                </a:solidFill>
              </a:defRPr>
            </a:pPr>
            <a:r>
              <a:rPr lang="en-US" sz="2400" dirty="0"/>
              <a:t>Student Name: Suresh Kumar</a:t>
            </a:r>
          </a:p>
          <a:p>
            <a:pPr>
              <a:defRPr sz="2800" b="1">
                <a:solidFill>
                  <a:srgbClr val="1F2925"/>
                </a:solidFill>
              </a:defRPr>
            </a:pPr>
            <a:r>
              <a:rPr lang="en-US" sz="2400" dirty="0"/>
              <a:t>Bits Id: </a:t>
            </a:r>
            <a:r>
              <a:rPr lang="en-US" sz="2400" dirty="0" err="1"/>
              <a:t>2024TM93685</a:t>
            </a:r>
            <a:endParaRPr sz="2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213A4C6-B35B-2298-7236-42C4F0E39CCB}"/>
              </a:ext>
            </a:extLst>
          </p:cNvPr>
          <p:cNvSpPr/>
          <p:nvPr/>
        </p:nvSpPr>
        <p:spPr>
          <a:xfrm>
            <a:off x="6466114" y="5206481"/>
            <a:ext cx="4994366" cy="1240037"/>
          </a:xfrm>
          <a:prstGeom prst="rect">
            <a:avLst/>
          </a:prstGeom>
          <a:solidFill>
            <a:srgbClr val="FFFFFF"/>
          </a:solidFill>
          <a:ln>
            <a:solidFill>
              <a:srgbClr val="E0E4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20040" tIns="256032" rtlCol="0" anchor="ctr"/>
          <a:lstStyle/>
          <a:p>
            <a:pPr>
              <a:defRPr sz="2800" b="1">
                <a:solidFill>
                  <a:srgbClr val="1F2925"/>
                </a:solidFill>
              </a:defRPr>
            </a:pPr>
            <a:r>
              <a:rPr lang="en-US" sz="2400" dirty="0"/>
              <a:t>Course Name: Cross Platform Application Development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F2925"/>
                </a:solidFill>
              </a:defRPr>
            </a:pPr>
            <a:r>
              <a:t>Project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691640"/>
            <a:ext cx="1069848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F2925"/>
                </a:solidFill>
              </a:defRPr>
            </a:pPr>
            <a:r>
              <a:t>A cross-platform Flutter app for managing personal student tasks.</a:t>
            </a:r>
          </a:p>
          <a:p>
            <a:pPr>
              <a:spcAft>
                <a:spcPts val="1000"/>
              </a:spcAft>
              <a:defRPr sz="2000">
                <a:solidFill>
                  <a:srgbClr val="1F2925"/>
                </a:solidFill>
              </a:defRPr>
            </a:pPr>
            <a:r>
              <a:t>Back4App provides authentication, database storage, and Parse APIs.</a:t>
            </a:r>
          </a:p>
          <a:p>
            <a:pPr>
              <a:spcAft>
                <a:spcPts val="1000"/>
              </a:spcAft>
              <a:defRPr sz="2000">
                <a:solidFill>
                  <a:srgbClr val="1F2925"/>
                </a:solidFill>
              </a:defRPr>
            </a:pPr>
            <a:r>
              <a:t>Users can register, log in, create tasks, edit details, mark completion, delete tasks, and log out.</a:t>
            </a:r>
          </a:p>
          <a:p>
            <a:pPr>
              <a:spcAft>
                <a:spcPts val="1000"/>
              </a:spcAft>
              <a:defRPr sz="2000">
                <a:solidFill>
                  <a:srgbClr val="1F2925"/>
                </a:solidFill>
              </a:defRPr>
            </a:pPr>
            <a:r>
              <a:t>Each task belongs to the logged-in user and is protected with object-level ACL.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F2925"/>
                </a:solidFill>
              </a:defRPr>
            </a:pPr>
            <a:r>
              <a:t>Technology Stack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54480"/>
            <a:ext cx="3383280" cy="1828800"/>
          </a:xfrm>
          <a:prstGeom prst="rect">
            <a:avLst/>
          </a:prstGeom>
          <a:solidFill>
            <a:srgbClr val="FFFFFF"/>
          </a:solidFill>
          <a:ln>
            <a:solidFill>
              <a:srgbClr val="E0E4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64592" rtlCol="0" anchor="ctr"/>
          <a:lstStyle/>
          <a:p>
            <a:pPr algn="ctr">
              <a:defRPr sz="1800" b="1">
                <a:solidFill>
                  <a:srgbClr val="2E7D6A"/>
                </a:solidFill>
              </a:defRPr>
            </a:pPr>
            <a:r>
              <a:t>Flutter</a:t>
            </a:r>
          </a:p>
          <a:p>
            <a:pPr>
              <a:defRPr sz="1400">
                <a:solidFill>
                  <a:srgbClr val="1F2925"/>
                </a:solidFill>
              </a:defRPr>
            </a:pPr>
            <a:r>
              <a:t>Material 3 interface for web, Android, and desktop targets.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434840" y="1554480"/>
            <a:ext cx="3383280" cy="1828800"/>
          </a:xfrm>
          <a:prstGeom prst="rect">
            <a:avLst/>
          </a:prstGeom>
          <a:solidFill>
            <a:srgbClr val="FFFFFF"/>
          </a:solidFill>
          <a:ln>
            <a:solidFill>
              <a:srgbClr val="E0E4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64592" rtlCol="0" anchor="ctr"/>
          <a:lstStyle/>
          <a:p>
            <a:pPr algn="ctr">
              <a:defRPr sz="1800" b="1">
                <a:solidFill>
                  <a:srgbClr val="2E7D6A"/>
                </a:solidFill>
              </a:defRPr>
            </a:pPr>
            <a:r>
              <a:t>Back4App</a:t>
            </a:r>
          </a:p>
          <a:p>
            <a:pPr>
              <a:defRPr sz="1400">
                <a:solidFill>
                  <a:srgbClr val="1F2925"/>
                </a:solidFill>
              </a:defRPr>
            </a:pPr>
            <a:r>
              <a:t>Parse Server BaaS for users, sessions, cloud classes, and Live Query support.</a:t>
            </a:r>
          </a:p>
        </p:txBody>
      </p:sp>
      <p:sp>
        <p:nvSpPr>
          <p:cNvPr id="5" name="Rectangle 4"/>
          <p:cNvSpPr/>
          <p:nvPr/>
        </p:nvSpPr>
        <p:spPr>
          <a:xfrm>
            <a:off x="8138160" y="1554480"/>
            <a:ext cx="3383280" cy="1828800"/>
          </a:xfrm>
          <a:prstGeom prst="rect">
            <a:avLst/>
          </a:prstGeom>
          <a:solidFill>
            <a:srgbClr val="FFFFFF"/>
          </a:solidFill>
          <a:ln>
            <a:solidFill>
              <a:srgbClr val="E0E4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64592" rtlCol="0" anchor="ctr"/>
          <a:lstStyle/>
          <a:p>
            <a:pPr algn="ctr">
              <a:defRPr sz="1800" b="1">
                <a:solidFill>
                  <a:srgbClr val="2E7D6A"/>
                </a:solidFill>
              </a:defRPr>
            </a:pPr>
            <a:r>
              <a:t>GitHub</a:t>
            </a:r>
          </a:p>
          <a:p>
            <a:pPr>
              <a:defRPr sz="1400">
                <a:solidFill>
                  <a:srgbClr val="1F2925"/>
                </a:solidFill>
              </a:defRPr>
            </a:pPr>
            <a:r>
              <a:t>Repository stores source code, README, tests, and presentation files.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2560320" y="3886200"/>
            <a:ext cx="3383280" cy="1554480"/>
          </a:xfrm>
          <a:prstGeom prst="rect">
            <a:avLst/>
          </a:prstGeom>
          <a:solidFill>
            <a:srgbClr val="FFFFFF"/>
          </a:solidFill>
          <a:ln>
            <a:solidFill>
              <a:srgbClr val="E0E4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64592" rtlCol="0" anchor="ctr"/>
          <a:lstStyle/>
          <a:p>
            <a:pPr algn="ctr">
              <a:defRPr sz="1800" b="1">
                <a:solidFill>
                  <a:srgbClr val="2E7D6A"/>
                </a:solidFill>
              </a:defRPr>
            </a:pPr>
            <a:r>
              <a:t>Parse SDK</a:t>
            </a:r>
          </a:p>
          <a:p>
            <a:pPr>
              <a:defRPr sz="1400">
                <a:solidFill>
                  <a:srgbClr val="1F2925"/>
                </a:solidFill>
              </a:defRPr>
            </a:pPr>
            <a:r>
              <a:t>Flutter package: parse_server_sdk_flutter.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3886200"/>
            <a:ext cx="3383280" cy="1554480"/>
          </a:xfrm>
          <a:prstGeom prst="rect">
            <a:avLst/>
          </a:prstGeom>
          <a:solidFill>
            <a:srgbClr val="FFFFFF"/>
          </a:solidFill>
          <a:ln>
            <a:solidFill>
              <a:srgbClr val="E0E4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64592" rtlCol="0" anchor="ctr"/>
          <a:lstStyle/>
          <a:p>
            <a:pPr algn="ctr">
              <a:defRPr sz="1800" b="1">
                <a:solidFill>
                  <a:srgbClr val="2E7D6A"/>
                </a:solidFill>
              </a:defRPr>
            </a:pPr>
            <a:r>
              <a:t>Testing</a:t>
            </a:r>
          </a:p>
          <a:p>
            <a:pPr>
              <a:defRPr sz="1400">
                <a:solidFill>
                  <a:srgbClr val="1F2925"/>
                </a:solidFill>
              </a:defRPr>
            </a:pPr>
            <a:r>
              <a:t>Flutter analyze, widget test, and web build verification.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F2925"/>
                </a:solidFill>
              </a:defRPr>
            </a:pPr>
            <a:r>
              <a:t>Application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691640"/>
            <a:ext cx="1069848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F2925"/>
                </a:solidFill>
              </a:defRPr>
            </a:pPr>
            <a:r>
              <a:t>1. User opens app and sees the Login/Register screen.</a:t>
            </a:r>
          </a:p>
          <a:p>
            <a:pPr>
              <a:spcAft>
                <a:spcPts val="1000"/>
              </a:spcAft>
              <a:defRPr sz="1800">
                <a:solidFill>
                  <a:srgbClr val="1F2925"/>
                </a:solidFill>
              </a:defRPr>
            </a:pPr>
            <a:r>
              <a:t>2. Student email and password are sent to Back4App Parse User authentication.</a:t>
            </a:r>
          </a:p>
          <a:p>
            <a:pPr>
              <a:spcAft>
                <a:spcPts val="1000"/>
              </a:spcAft>
              <a:defRPr sz="1800">
                <a:solidFill>
                  <a:srgbClr val="1F2925"/>
                </a:solidFill>
              </a:defRPr>
            </a:pPr>
            <a:r>
              <a:t>3. Authenticated user reaches the Task dashboard.</a:t>
            </a:r>
          </a:p>
          <a:p>
            <a:pPr>
              <a:spcAft>
                <a:spcPts val="1000"/>
              </a:spcAft>
              <a:defRPr sz="1800">
                <a:solidFill>
                  <a:srgbClr val="1F2925"/>
                </a:solidFill>
              </a:defRPr>
            </a:pPr>
            <a:r>
              <a:t>4. CRUD actions update the Back4App Task class.</a:t>
            </a:r>
          </a:p>
          <a:p>
            <a:pPr>
              <a:spcAft>
                <a:spcPts val="1000"/>
              </a:spcAft>
              <a:defRPr sz="1800">
                <a:solidFill>
                  <a:srgbClr val="1F2925"/>
                </a:solidFill>
              </a:defRPr>
            </a:pPr>
            <a:r>
              <a:t>5. App syncs task data through refresh, auto-refresh, and optional Live Query.</a:t>
            </a:r>
          </a:p>
          <a:p>
            <a:pPr>
              <a:spcAft>
                <a:spcPts val="1000"/>
              </a:spcAft>
              <a:defRPr sz="1800">
                <a:solidFill>
                  <a:srgbClr val="1F2925"/>
                </a:solidFill>
              </a:defRPr>
            </a:pPr>
            <a:r>
              <a:t>6. Logout clears the authenticated session.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072A08-46E4-9D73-D1A1-CB3334D09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E21A45-0240-6C0B-5870-99171D153258}"/>
              </a:ext>
            </a:extLst>
          </p:cNvPr>
          <p:cNvSpPr txBox="1"/>
          <p:nvPr/>
        </p:nvSpPr>
        <p:spPr>
          <a:xfrm>
            <a:off x="594360" y="103703"/>
            <a:ext cx="4864345" cy="61555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F2925"/>
                </a:solidFill>
              </a:defRPr>
            </a:pPr>
            <a:r>
              <a:rPr lang="en-US" dirty="0"/>
              <a:t>Login/Register Dashboard</a:t>
            </a:r>
            <a:endParaRPr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7A1FF25-AB46-6DAA-ACCC-77A4F66CFC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719255"/>
            <a:ext cx="4736377" cy="2401966"/>
          </a:xfrm>
          <a:prstGeom prst="rect">
            <a:avLst/>
          </a:prstGeom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brightRoom" dir="t">
              <a:rot lat="0" lon="0" rev="600000"/>
            </a:lightRig>
          </a:scene3d>
          <a:sp3d prstMaterial="metal">
            <a:bevelT w="38100" h="57150" prst="angle"/>
          </a:sp3d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8593FD0-E1E2-8C5D-BB6E-A1551F4E19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556" y="3582122"/>
            <a:ext cx="6111001" cy="3122830"/>
          </a:xfrm>
          <a:prstGeom prst="rect">
            <a:avLst/>
          </a:prstGeom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brightRoom" dir="t">
              <a:rot lat="0" lon="0" rev="600000"/>
            </a:lightRig>
          </a:scene3d>
          <a:sp3d prstMaterial="metal">
            <a:bevelT w="38100" h="57150" prst="angle"/>
          </a:sp3d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EE1205A-A91E-A1DD-4AF5-FF13BC9712FD}"/>
              </a:ext>
            </a:extLst>
          </p:cNvPr>
          <p:cNvSpPr txBox="1"/>
          <p:nvPr/>
        </p:nvSpPr>
        <p:spPr>
          <a:xfrm>
            <a:off x="583674" y="3043895"/>
            <a:ext cx="1852367" cy="61555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F2925"/>
                </a:solidFill>
              </a:defRPr>
            </a:pPr>
            <a:r>
              <a:rPr lang="en-US" dirty="0"/>
              <a:t>Task Lists</a:t>
            </a:r>
            <a:endParaRPr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6BB4471-65E5-23D2-7B65-EF8358E7AABF}"/>
              </a:ext>
            </a:extLst>
          </p:cNvPr>
          <p:cNvSpPr txBox="1"/>
          <p:nvPr/>
        </p:nvSpPr>
        <p:spPr>
          <a:xfrm>
            <a:off x="6563070" y="690289"/>
            <a:ext cx="1797928" cy="61555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F2925"/>
                </a:solidFill>
              </a:defRPr>
            </a:pPr>
            <a:r>
              <a:rPr lang="en-US" dirty="0"/>
              <a:t>Add Task</a:t>
            </a:r>
            <a:endParaRPr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3DF1EB99-87D7-1951-868B-144351B1F7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0998" y="114099"/>
            <a:ext cx="3086531" cy="335326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7A8C7646-0EAD-7D14-C33A-D9EE5969B26E}"/>
              </a:ext>
            </a:extLst>
          </p:cNvPr>
          <p:cNvSpPr txBox="1"/>
          <p:nvPr/>
        </p:nvSpPr>
        <p:spPr>
          <a:xfrm>
            <a:off x="6988850" y="3305444"/>
            <a:ext cx="2027158" cy="61555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F2925"/>
                </a:solidFill>
              </a:defRPr>
            </a:pPr>
            <a:r>
              <a:rPr lang="en-US" dirty="0"/>
              <a:t>Done Task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5AEA7F49-8A61-9327-9A9F-9975C62F92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50866" y="3876700"/>
            <a:ext cx="3346774" cy="2744709"/>
          </a:xfrm>
          <a:prstGeom prst="rect">
            <a:avLst/>
          </a:prstGeom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brightRoom" dir="t">
              <a:rot lat="0" lon="0" rev="600000"/>
            </a:lightRig>
          </a:scene3d>
          <a:sp3d prstMaterial="metal">
            <a:bevelT w="38100" h="57150" prst="angle"/>
          </a:sp3d>
        </p:spPr>
      </p:pic>
    </p:spTree>
    <p:extLst>
      <p:ext uri="{BB962C8B-B14F-4D97-AF65-F5344CB8AC3E}">
        <p14:creationId xmlns:p14="http://schemas.microsoft.com/office/powerpoint/2010/main" val="28664838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F2925"/>
                </a:solidFill>
              </a:defRPr>
            </a:pPr>
            <a:r>
              <a:t>Task Data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3383280" cy="1280160"/>
          </a:xfrm>
          <a:prstGeom prst="rect">
            <a:avLst/>
          </a:prstGeom>
          <a:solidFill>
            <a:srgbClr val="FFFFFF"/>
          </a:solidFill>
          <a:ln>
            <a:solidFill>
              <a:srgbClr val="E0E4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64592" rtlCol="0" anchor="ctr"/>
          <a:lstStyle/>
          <a:p>
            <a:pPr algn="ctr">
              <a:defRPr sz="1800" b="1">
                <a:solidFill>
                  <a:srgbClr val="2E7D6A"/>
                </a:solidFill>
              </a:defRPr>
            </a:pPr>
            <a:r>
              <a:t>title</a:t>
            </a:r>
          </a:p>
          <a:p>
            <a:pPr>
              <a:defRPr sz="1400">
                <a:solidFill>
                  <a:srgbClr val="1F2925"/>
                </a:solidFill>
              </a:defRPr>
            </a:pPr>
            <a:r>
              <a:t>String field for the task name.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0" y="1554480"/>
            <a:ext cx="3383280" cy="1280160"/>
          </a:xfrm>
          <a:prstGeom prst="rect">
            <a:avLst/>
          </a:prstGeom>
          <a:solidFill>
            <a:srgbClr val="FFFFFF"/>
          </a:solidFill>
          <a:ln>
            <a:solidFill>
              <a:srgbClr val="E0E4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64592" rtlCol="0" anchor="ctr"/>
          <a:lstStyle/>
          <a:p>
            <a:pPr algn="ctr">
              <a:defRPr sz="1800" b="1">
                <a:solidFill>
                  <a:srgbClr val="2E7D6A"/>
                </a:solidFill>
              </a:defRPr>
            </a:pPr>
            <a:r>
              <a:t>description</a:t>
            </a:r>
          </a:p>
          <a:p>
            <a:pPr>
              <a:defRPr sz="1400">
                <a:solidFill>
                  <a:srgbClr val="1F2925"/>
                </a:solidFill>
              </a:defRPr>
            </a:pPr>
            <a:r>
              <a:t>String field for task details.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1554480"/>
            <a:ext cx="3383280" cy="1280160"/>
          </a:xfrm>
          <a:prstGeom prst="rect">
            <a:avLst/>
          </a:prstGeom>
          <a:solidFill>
            <a:srgbClr val="FFFFFF"/>
          </a:solidFill>
          <a:ln>
            <a:solidFill>
              <a:srgbClr val="E0E4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64592" rtlCol="0" anchor="ctr"/>
          <a:lstStyle/>
          <a:p>
            <a:pPr algn="ctr">
              <a:defRPr sz="1800" b="1">
                <a:solidFill>
                  <a:srgbClr val="2E7D6A"/>
                </a:solidFill>
              </a:defRPr>
            </a:pPr>
            <a:r>
              <a:t>isDone</a:t>
            </a:r>
          </a:p>
          <a:p>
            <a:pPr>
              <a:defRPr sz="1400">
                <a:solidFill>
                  <a:srgbClr val="1F2925"/>
                </a:solidFill>
              </a:defRPr>
            </a:pPr>
            <a:r>
              <a:t>Boolean completion status.</a:t>
            </a:r>
          </a:p>
        </p:txBody>
      </p:sp>
      <p:sp>
        <p:nvSpPr>
          <p:cNvPr id="6" name="Rectangle 5"/>
          <p:cNvSpPr/>
          <p:nvPr/>
        </p:nvSpPr>
        <p:spPr>
          <a:xfrm>
            <a:off x="2560320" y="3337560"/>
            <a:ext cx="3383280" cy="1280160"/>
          </a:xfrm>
          <a:prstGeom prst="rect">
            <a:avLst/>
          </a:prstGeom>
          <a:solidFill>
            <a:srgbClr val="FFFFFF"/>
          </a:solidFill>
          <a:ln>
            <a:solidFill>
              <a:srgbClr val="E0E4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64592" rtlCol="0" anchor="ctr"/>
          <a:lstStyle/>
          <a:p>
            <a:pPr algn="ctr">
              <a:defRPr sz="1800" b="1">
                <a:solidFill>
                  <a:srgbClr val="2E7D6A"/>
                </a:solidFill>
              </a:defRPr>
            </a:pPr>
            <a:r>
              <a:t>owner</a:t>
            </a:r>
          </a:p>
          <a:p>
            <a:pPr>
              <a:defRPr sz="1400">
                <a:solidFill>
                  <a:srgbClr val="1F2925"/>
                </a:solidFill>
              </a:defRPr>
            </a:pPr>
            <a:r>
              <a:t>Pointer to the logged-in _User.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3337560"/>
            <a:ext cx="3383280" cy="1280160"/>
          </a:xfrm>
          <a:prstGeom prst="rect">
            <a:avLst/>
          </a:prstGeom>
          <a:solidFill>
            <a:srgbClr val="FFFFFF"/>
          </a:solidFill>
          <a:ln>
            <a:solidFill>
              <a:srgbClr val="E0E4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64592" rtlCol="0" anchor="ctr"/>
          <a:lstStyle/>
          <a:p>
            <a:pPr algn="ctr">
              <a:defRPr sz="1800" b="1">
                <a:solidFill>
                  <a:srgbClr val="2E7D6A"/>
                </a:solidFill>
              </a:defRPr>
            </a:pPr>
            <a:r>
              <a:t>ACL</a:t>
            </a:r>
          </a:p>
          <a:p>
            <a:pPr>
              <a:defRPr sz="1400">
                <a:solidFill>
                  <a:srgbClr val="1F2925"/>
                </a:solidFill>
              </a:defRPr>
            </a:pPr>
            <a:r>
              <a:t>Owner read/write access for security.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F2925"/>
                </a:solidFill>
              </a:defRPr>
            </a:pPr>
            <a:r>
              <a:t>Key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691640"/>
            <a:ext cx="1069848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F2925"/>
                </a:solidFill>
              </a:defRPr>
            </a:pPr>
            <a:r>
              <a:t>Student email registration and login.</a:t>
            </a:r>
          </a:p>
          <a:p>
            <a:pPr>
              <a:spcAft>
                <a:spcPts val="1000"/>
              </a:spcAft>
              <a:defRPr sz="2000">
                <a:solidFill>
                  <a:srgbClr val="1F2925"/>
                </a:solidFill>
              </a:defRPr>
            </a:pPr>
            <a:r>
              <a:t>Create tasks with title and description.</a:t>
            </a:r>
          </a:p>
          <a:p>
            <a:pPr>
              <a:spcAft>
                <a:spcPts val="1000"/>
              </a:spcAft>
              <a:defRPr sz="2000">
                <a:solidFill>
                  <a:srgbClr val="1F2925"/>
                </a:solidFill>
              </a:defRPr>
            </a:pPr>
            <a:r>
              <a:t>Read tasks from Back4App cloud database.</a:t>
            </a:r>
          </a:p>
          <a:p>
            <a:pPr>
              <a:spcAft>
                <a:spcPts val="1000"/>
              </a:spcAft>
              <a:defRPr sz="2000">
                <a:solidFill>
                  <a:srgbClr val="1F2925"/>
                </a:solidFill>
              </a:defRPr>
            </a:pPr>
            <a:r>
              <a:t>Update task details and completion state.</a:t>
            </a:r>
          </a:p>
          <a:p>
            <a:pPr>
              <a:spcAft>
                <a:spcPts val="1000"/>
              </a:spcAft>
              <a:defRPr sz="2000">
                <a:solidFill>
                  <a:srgbClr val="1F2925"/>
                </a:solidFill>
              </a:defRPr>
            </a:pPr>
            <a:r>
              <a:t>Delete tasks from cloud storage.</a:t>
            </a:r>
          </a:p>
          <a:p>
            <a:pPr>
              <a:spcAft>
                <a:spcPts val="1000"/>
              </a:spcAft>
              <a:defRPr sz="2000">
                <a:solidFill>
                  <a:srgbClr val="1F2925"/>
                </a:solidFill>
              </a:defRPr>
            </a:pPr>
            <a:r>
              <a:t>Logout invalidates the active session.</a:t>
            </a:r>
          </a:p>
          <a:p>
            <a:pPr>
              <a:spcAft>
                <a:spcPts val="1000"/>
              </a:spcAft>
              <a:defRPr sz="2000">
                <a:solidFill>
                  <a:srgbClr val="1F2925"/>
                </a:solidFill>
              </a:defRPr>
            </a:pPr>
            <a:r>
              <a:t>Responsive UI with clear task statistics.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F2925"/>
                </a:solidFill>
              </a:defRPr>
            </a:pPr>
            <a:r>
              <a:t>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691640"/>
            <a:ext cx="1069848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F2925"/>
                </a:solidFill>
              </a:defRPr>
            </a:pPr>
            <a:r>
              <a:t>flutter analyze: no issues found.</a:t>
            </a:r>
          </a:p>
          <a:p>
            <a:pPr>
              <a:spcAft>
                <a:spcPts val="1000"/>
              </a:spcAft>
              <a:defRPr sz="2000">
                <a:solidFill>
                  <a:srgbClr val="1F2925"/>
                </a:solidFill>
              </a:defRPr>
            </a:pPr>
            <a:r>
              <a:t>flutter test: widget test passed.</a:t>
            </a:r>
          </a:p>
          <a:p>
            <a:pPr>
              <a:spcAft>
                <a:spcPts val="1000"/>
              </a:spcAft>
              <a:defRPr sz="2000">
                <a:solidFill>
                  <a:srgbClr val="1F2925"/>
                </a:solidFill>
              </a:defRPr>
            </a:pPr>
            <a:r>
              <a:t>flutter build web: successful production web build.</a:t>
            </a:r>
          </a:p>
          <a:p>
            <a:pPr>
              <a:spcAft>
                <a:spcPts val="1000"/>
              </a:spcAft>
              <a:defRPr sz="2000">
                <a:solidFill>
                  <a:srgbClr val="1F2925"/>
                </a:solidFill>
              </a:defRPr>
            </a:pPr>
            <a:r>
              <a:t>Back4App app credentials are configured in Dart constants with dart-define override support.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F2925"/>
                </a:solidFill>
              </a:defRPr>
            </a:pPr>
            <a:r>
              <a:t>Learnings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691640"/>
            <a:ext cx="1069848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F2925"/>
                </a:solidFill>
              </a:defRPr>
            </a:pPr>
            <a:r>
              <a:t>How Backend-as-a-Service reduces backend setup work.</a:t>
            </a:r>
          </a:p>
          <a:p>
            <a:pPr>
              <a:spcAft>
                <a:spcPts val="1000"/>
              </a:spcAft>
              <a:defRPr sz="2000">
                <a:solidFill>
                  <a:srgbClr val="1F2925"/>
                </a:solidFill>
              </a:defRPr>
            </a:pPr>
            <a:r>
              <a:t>How Parse User sessions support secure authentication.</a:t>
            </a:r>
          </a:p>
          <a:p>
            <a:pPr>
              <a:spcAft>
                <a:spcPts val="1000"/>
              </a:spcAft>
              <a:defRPr sz="2000">
                <a:solidFill>
                  <a:srgbClr val="1F2925"/>
                </a:solidFill>
              </a:defRPr>
            </a:pPr>
            <a:r>
              <a:t>How cloud classes and object fields model app data.</a:t>
            </a:r>
          </a:p>
          <a:p>
            <a:pPr>
              <a:spcAft>
                <a:spcPts val="1000"/>
              </a:spcAft>
              <a:defRPr sz="2000">
                <a:solidFill>
                  <a:srgbClr val="1F2925"/>
                </a:solidFill>
              </a:defRPr>
            </a:pPr>
            <a:r>
              <a:t>How Flutter widgets, forms, validation, and async operations work together.</a:t>
            </a:r>
          </a:p>
          <a:p>
            <a:pPr>
              <a:spcAft>
                <a:spcPts val="1000"/>
              </a:spcAft>
              <a:defRPr sz="2000">
                <a:solidFill>
                  <a:srgbClr val="1F2925"/>
                </a:solidFill>
              </a:defRPr>
            </a:pPr>
            <a:r>
              <a:t>How GitHub, tests, README, demo video, and PPT complete a project submission.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F2925"/>
                </a:solidFill>
              </a:defRPr>
            </a:pPr>
            <a:r>
              <a:t>Demo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691640"/>
            <a:ext cx="1069848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F2925"/>
                </a:solidFill>
              </a:defRPr>
            </a:pPr>
            <a:r>
              <a:t>Register using a student email ID.</a:t>
            </a:r>
          </a:p>
          <a:p>
            <a:pPr>
              <a:spcAft>
                <a:spcPts val="1000"/>
              </a:spcAft>
              <a:defRPr sz="2000">
                <a:solidFill>
                  <a:srgbClr val="1F2925"/>
                </a:solidFill>
              </a:defRPr>
            </a:pPr>
            <a:r>
              <a:t>Create a new task.</a:t>
            </a:r>
          </a:p>
          <a:p>
            <a:pPr>
              <a:spcAft>
                <a:spcPts val="1000"/>
              </a:spcAft>
              <a:defRPr sz="2000">
                <a:solidFill>
                  <a:srgbClr val="1F2925"/>
                </a:solidFill>
              </a:defRPr>
            </a:pPr>
            <a:r>
              <a:t>Edit task title or description.</a:t>
            </a:r>
          </a:p>
          <a:p>
            <a:pPr>
              <a:spcAft>
                <a:spcPts val="1000"/>
              </a:spcAft>
              <a:defRPr sz="2000">
                <a:solidFill>
                  <a:srgbClr val="1F2925"/>
                </a:solidFill>
              </a:defRPr>
            </a:pPr>
            <a:r>
              <a:t>Mark the task as completed.</a:t>
            </a:r>
          </a:p>
          <a:p>
            <a:pPr>
              <a:spcAft>
                <a:spcPts val="1000"/>
              </a:spcAft>
              <a:defRPr sz="2000">
                <a:solidFill>
                  <a:srgbClr val="1F2925"/>
                </a:solidFill>
              </a:defRPr>
            </a:pPr>
            <a:r>
              <a:t>Delete the task.</a:t>
            </a:r>
          </a:p>
          <a:p>
            <a:pPr>
              <a:spcAft>
                <a:spcPts val="1000"/>
              </a:spcAft>
              <a:defRPr sz="2000">
                <a:solidFill>
                  <a:srgbClr val="1F2925"/>
                </a:solidFill>
              </a:defRPr>
            </a:pPr>
            <a:r>
              <a:t>Logout securely.</a:t>
            </a:r>
          </a:p>
          <a:p>
            <a:pPr>
              <a:spcAft>
                <a:spcPts val="1000"/>
              </a:spcAft>
              <a:defRPr sz="2000">
                <a:solidFill>
                  <a:srgbClr val="1F2925"/>
                </a:solidFill>
              </a:defRPr>
            </a:pPr>
            <a:r>
              <a:t>Submit YouTube video link, GitHub repository, and this PPT on Taxila.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44</TotalTime>
  <Words>512</Words>
  <Application>Microsoft Office PowerPoint</Application>
  <PresentationFormat>Widescreen</PresentationFormat>
  <Paragraphs>74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SURESH KUMAR .</cp:lastModifiedBy>
  <cp:revision>2</cp:revision>
  <dcterms:created xsi:type="dcterms:W3CDTF">2013-01-27T09:14:16Z</dcterms:created>
  <dcterms:modified xsi:type="dcterms:W3CDTF">2026-04-29T16:31:54Z</dcterms:modified>
  <cp:category/>
</cp:coreProperties>
</file>